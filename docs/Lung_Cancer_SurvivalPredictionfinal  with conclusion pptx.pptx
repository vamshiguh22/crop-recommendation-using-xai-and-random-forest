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61" r:id="rId5"/>
    <p:sldId id="265" r:id="rId6"/>
    <p:sldId id="266" r:id="rId7"/>
    <p:sldId id="267" r:id="rId8"/>
    <p:sldId id="268" r:id="rId9"/>
    <p:sldId id="269" r:id="rId10"/>
    <p:sldId id="270" r:id="rId11"/>
    <p:sldId id="258" r:id="rId12"/>
    <p:sldId id="262" r:id="rId13"/>
    <p:sldId id="260" r:id="rId14"/>
    <p:sldId id="271" r:id="rId15"/>
    <p:sldId id="264" r:id="rId16"/>
  </p:sldIdLst>
  <p:sldSz cx="12192000" cy="6858000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5894DF-9AC3-41A8-843B-C29A499DB2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91"/>
      </p:cViewPr>
      <p:guideLst>
        <p:guide orient="horz" pos="2160"/>
        <p:guide pos="38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3" name="Google Shape;113;p2:notes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1" name="Google Shape;31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2" name="Google Shape;32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3" name="Google Shape;33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6" name="Google Shape;36;p1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1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9" name="Google Shape;49;p14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0" name="Google Shape;50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5" name="Google Shape;55;p15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6" name="Google Shape;56;p15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7" name="Google Shape;57;p15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8" name="Google Shape;58;p15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9" name="Google Shape;59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0" name="Google Shape;60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9" name="Google Shape;69;p1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0" name="Google Shape;70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3" name="Google Shape;73;p18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4" name="Google Shape;74;p18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9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9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2" name="Google Shape;82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3" name="Google Shape;83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4" name="Google Shape;84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7" name="Google Shape;87;p20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8" name="Google Shape;88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9" name="Google Shape;89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0" name="Google Shape;90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3" name="Google Shape;93;p21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4" name="Google Shape;94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5" name="Google Shape;95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6" name="Google Shape;96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/>
        </p:nvSpPr>
        <p:spPr>
          <a:xfrm>
            <a:off x="0" y="-27384"/>
            <a:ext cx="12192000" cy="576000"/>
          </a:xfrm>
          <a:prstGeom prst="rect">
            <a:avLst/>
          </a:prstGeom>
          <a:solidFill>
            <a:srgbClr val="538CD5"/>
          </a:solidFill>
          <a:ln>
            <a:noFill/>
          </a:ln>
          <a:effectLst>
            <a:outerShdw blurRad="50800" sx="1000" sy="1000" algn="t" rotWithShape="0">
              <a:srgbClr val="538CD5"/>
            </a:outerShdw>
            <a:reflection stA="57000" endPos="44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10390983" y="-27591"/>
            <a:ext cx="1791492" cy="57620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2209800" y="2209801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SzPts val="1800"/>
            </a:pPr>
            <a:r>
              <a:rPr lang="en-IN" sz="1800" b="1" dirty="0"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Lung Cancer Survival Prediction </a:t>
            </a:r>
            <a:br>
              <a:rPr lang="en-IN" sz="1800" b="1" dirty="0"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</a:br>
            <a:r>
              <a:rPr lang="en-IN" sz="1800" b="1" dirty="0"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Using CT Scans, Clinical Data &amp; Pathology Reports </a:t>
            </a:r>
            <a:br>
              <a:rPr lang="en-IN" sz="1800" b="1" dirty="0"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</a:br>
            <a:endParaRPr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922655" y="3429000"/>
            <a:ext cx="597154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Minor Project - Review 1 | Dept. of CSE (AI &amp; ML)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Student 1: 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M.Anosh Reddy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 ([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ENG23AM0157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Student 2: 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P.Devamshu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 ([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ENG23AM0171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Student 3: 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M.Ram Charan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 ([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ENG23AM0155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Student 4: 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N.Sai Vamshi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 ([</a:t>
            </a:r>
            <a:r>
              <a:rPr lang="en-US" alt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ENG23AM0165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algn="l">
              <a:spcBef>
                <a:spcPts val="360"/>
              </a:spcBef>
              <a:buClr>
                <a:schemeClr val="dk1"/>
              </a:buClr>
              <a:buSzPts val="1800"/>
            </a:pPr>
            <a:endParaRPr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pic>
        <p:nvPicPr>
          <p:cNvPr id="91" name="Google Shape;91;p1" descr="DSU"/>
          <p:cNvPicPr preferRelativeResize="0"/>
          <p:nvPr/>
        </p:nvPicPr>
        <p:blipFill rotWithShape="1">
          <a:blip r:embed="rId1"/>
          <a:srcRect l="34667"/>
          <a:stretch>
            <a:fillRect/>
          </a:stretch>
        </p:blipFill>
        <p:spPr>
          <a:xfrm>
            <a:off x="1798320" y="823697"/>
            <a:ext cx="2489200" cy="14692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0;p1"/>
          <p:cNvSpPr txBox="1"/>
          <p:nvPr/>
        </p:nvSpPr>
        <p:spPr>
          <a:xfrm>
            <a:off x="7136765" y="5126355"/>
            <a:ext cx="4808855" cy="1518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indent="0"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Guided By: [</a:t>
            </a:r>
            <a:r>
              <a:rPr lang="en-US" altLang="en-US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MR. SRIRAMKUMAR R 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0" indent="0"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[</a:t>
            </a:r>
            <a:r>
              <a:rPr lang="en-US" altLang="en-US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Assistant Professor</a:t>
            </a: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], Dept. of CSE (AI &amp; ML)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0" indent="0" algn="l">
              <a:spcBef>
                <a:spcPts val="360"/>
              </a:spcBef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Dayananda Sagar University, Bengaluru</a:t>
            </a:r>
            <a:endParaRPr lang="en-IN" sz="1800" dirty="0">
              <a:solidFill>
                <a:schemeClr val="dk1"/>
              </a:solidFill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6" y="823697"/>
            <a:ext cx="1558834" cy="15588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Objectives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20" name="Google Shape;120;p2"/>
          <p:cNvSpPr txBox="1"/>
          <p:nvPr/>
        </p:nvSpPr>
        <p:spPr>
          <a:xfrm>
            <a:off x="831850" y="1065530"/>
            <a:ext cx="10880725" cy="261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develop a multimodal AI model that predicts lung cancer patient survival by combining CT scan images, clinical tabular data, and pathology reports.</a:t>
            </a:r>
            <a:endParaRPr lang="en-US" sz="20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sz="2000" dirty="0"/>
          </a:p>
          <a:p>
            <a:pPr marL="285750" marR="0" lvl="0" indent="-285750" algn="l" rtl="0"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 panose="020F0502020204030204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improve prediction accuracy and early risk stratification compared to single-    data-source models</a:t>
            </a:r>
            <a:endParaRPr lang="en-US" sz="20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sz="2000" dirty="0"/>
          </a:p>
          <a:p>
            <a:pPr marL="285750" marR="0" lvl="0" indent="-285750" algn="l" rtl="0"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build a clinically interpretable risk scoring system that categorizes patients into low-, medium-, and high-survival risk groups for better treatment planning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Introduction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20" name="Google Shape;120;p2"/>
          <p:cNvSpPr txBox="1"/>
          <p:nvPr/>
        </p:nvSpPr>
        <p:spPr>
          <a:xfrm>
            <a:off x="831850" y="1065530"/>
            <a:ext cx="10880725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r>
              <a:rPr lang="en-US" altLang="en-US" sz="2000" dirty="0">
                <a:latin typeface="Arial Black" panose="020B0A04020102020204" pitchFamily="34" charset="0"/>
                <a:cs typeface="Calibri" panose="020F0502020204030204" pitchFamily="34" charset="0"/>
              </a:rPr>
              <a:t>:</a:t>
            </a:r>
            <a:endParaRPr lang="en-US" altLang="en-US" sz="2000" dirty="0">
              <a:latin typeface="Arial Black" panose="020B0A04020102020204" pitchFamily="34" charset="0"/>
              <a:cs typeface="Calibri" panose="020F0502020204030204" pitchFamily="34" charset="0"/>
            </a:endParaRPr>
          </a:p>
          <a:p>
            <a:pPr marR="0" lvl="0" algn="l" rtl="0">
              <a:buClr>
                <a:schemeClr val="dk1"/>
              </a:buClr>
              <a:buSzPts val="1800"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Lung cancer is one of the leading causes of cancer-related deaths worldwide, mainly due to late diagnosis and inaccurate survival estimation. Early and precise survival prediction is crucial for personalized treatment planning.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buClr>
                <a:schemeClr val="dk1"/>
              </a:buClr>
              <a:buSzPts val="1800"/>
              <a:buFont typeface="Arial" panose="020B0604020202020204"/>
              <a:buChar char="•"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buClr>
                <a:schemeClr val="dk1"/>
              </a:buClr>
              <a:buSzPts val="1800"/>
              <a:buFont typeface="Arial" panose="020B0604020202020204"/>
              <a:buChar char="•"/>
            </a:pP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 develop a predictive model that accurately estimates the survival probability of lung cancer           patients using medical data (CT scans, clinical features, and pathology reports).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831850" y="4437380"/>
            <a:ext cx="10676890" cy="1506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Gaps in Current Solutions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1)Limited use of pathology text reports due to NLP complexity.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2) No personalization based on patient-specific risk factors.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3)Most models use single-modality data (only imaging or only clinical data)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Literature Review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82270" y="790575"/>
          <a:ext cx="11320780" cy="5153025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701040"/>
                <a:gridCol w="3126740"/>
                <a:gridCol w="3773170"/>
                <a:gridCol w="3719830"/>
              </a:tblGrid>
              <a:tr h="73660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S.No.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Details of Paper (Harvard Style)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Objectives, Dataset, Methodology / Models Used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Results / Advantages / Limitations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220853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Ardila et al. (2019). Lung cancer detection from CT scans using deep learning. Nature Medicine.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Goal: Detect if a CT scan shows cancer. Data: 45,856 CT scans (NLST + UK Biobank). Method: A 3D deep learning model trained on CT images to predict cancer risk.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Outperformed radiologists (AUC 0.944 vs 0.856). Fewer false results. Limitation: Only detects cancer — does not predict survival or use clinical data.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0789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Katzman et al. (2018). DeepSurv: A deep learning model for predicting patient survival. BMC Medical Research Methodology.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Goal: Predict survival using patient records. Data: Multiple clinical datasets including NLST. Method: A neural network that estimates survival risk from patient data.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3-7% better accuracy than traditional models. Limitation: Uses clinical data only — no CT images or pathology reports.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Literature Review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82270" y="790575"/>
          <a:ext cx="11328400" cy="5186045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701675"/>
                <a:gridCol w="3128645"/>
                <a:gridCol w="3775710"/>
                <a:gridCol w="3722370"/>
              </a:tblGrid>
              <a:tr h="73406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S.No.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Details of Paper (Harvard Style)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Objectives, Dataset, Methodology / Models Used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Results / Advantages / Limitations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220281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Yao et al. (2020). Cancer survival prediction from pathology slide images using deep learning. Medical Image Analysis.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Goal: Predict lung cancer survival from microscopic tissue images. Data: TCGA lung cancer datasets. Method: AI model that scans large pathology images in parts and focuses on important regions.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Good accuracy (C-index ~0.75) using only pathology images. Limitation: Does not use CT scans or patient clinical records.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917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Chen et al. (2021). Combining pathology images and gene data for cancer survival prediction. ICCV 2021.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Goal: Use both tissue images and genomic data to predict survival. Data: TCGA lung cancer datasets. Method: A transformer model that links image regions with gene expression data.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Best reported accuracy on lung cancer datasets. Limitation: Uses genomics data, not CT scans or clinical records — not practical in most hospitals.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Literature Review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82270" y="790575"/>
          <a:ext cx="10499725" cy="5177790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650240"/>
                <a:gridCol w="2900045"/>
                <a:gridCol w="3499485"/>
                <a:gridCol w="3449955"/>
              </a:tblGrid>
              <a:tr h="73977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S.No.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Details of Paper (Harvard Style)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Objectives, Dataset, Methodology / Models Used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Results / Advantages / Limitations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221932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Huang et al. (2020). SALMON: Predicting lung cancer survival using multiple types of biological data. npj Precision Oncology.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Goal: Improve survival prediction by combining gene-level data types. Data: TCGA lung cancer patients. Method: Separate AI encoders for each data type, then combined for final prediction.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Better accuracy than single-data models. Limitation: Requires genomic tests not available in all hospitals; no CT scans or clinical records used.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1869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Aerts et al. (2014). Predicting lung cancer outcomes using CT scan features (radiomics). Nature Communications.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Goal: Use CT scan measurements to predict lung cancer outcomes. Data: 422 lung cancer patients. Method: Extracted 440 features (shape, texture, intensity) from CT tumor region.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Moderate accuracy (C-index 0.65). Showed CT texture features are useful for prognosis. Limitation: Uses only hand-picked features — no deep learning or other data types.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Literature Review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82270" y="790575"/>
          <a:ext cx="10499725" cy="5193030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650240"/>
                <a:gridCol w="2900045"/>
                <a:gridCol w="3499485"/>
                <a:gridCol w="3449955"/>
              </a:tblGrid>
              <a:tr h="51943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S.No.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Details of Paper (Harvard Style)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Objectives, Dataset, Methodology / Models Used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Results / Advantages / Limitations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233743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Liu et al. (2020). Lung cancer survival prediction using multimodal data and graph neural networks. IEEE BIBM.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Goal: Combine CT images, gene data, and clinical stage to predict survival. Data: TCGA-LUAD (412 patients). Method: A graph network connecting similar patients to improve prediction.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7-9% better than single-data models (C-index 0.718). Limitation: Needs genomic data not available in routine clinical use; no pathology text or explainability.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3616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8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Mobadersany et al. (2018). Predicting cancer outcomes from tissue images and genetic data. PNAS.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Goal: Combine tissue slide images with gene risk score to predict cancer outcomes. Data: TCGA lung and brain datasets. Method: CNN extracts features from tissue images, combined with genomic risk.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11% better than clinical-only model. Visual maps show high-risk tumor areas. Limitation: No CT scans or clinical records; uses only binary gene risk, not detailed genomic data.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/>
        </p:nvSpPr>
        <p:spPr>
          <a:xfrm>
            <a:off x="182252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Literature Review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82270" y="790575"/>
          <a:ext cx="10499725" cy="5431155"/>
        </p:xfrm>
        <a:graphic>
          <a:graphicData uri="http://schemas.openxmlformats.org/drawingml/2006/table">
            <a:tbl>
              <a:tblPr firstRow="1" bandRow="1">
                <a:tableStyleId>{D15894DF-9AC3-41A8-843B-C29A499DB286}</a:tableStyleId>
              </a:tblPr>
              <a:tblGrid>
                <a:gridCol w="650240"/>
                <a:gridCol w="2900045"/>
                <a:gridCol w="3499485"/>
                <a:gridCol w="3449955"/>
              </a:tblGrid>
              <a:tr h="67437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S.No.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Details of Paper (Harvard Style)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Objectives, Dataset, Methodology / Models Used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Results / Advantages / Limitations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2378075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9</a:t>
                      </a:r>
                      <a:endParaRPr lang="en-US" sz="16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Steyaert et al. (2023). Comparing methods to combine multiple data types for cancer prediction using deep learning. Nature Machine Intelligence.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Goal: Find the best way to combine imaging and genomic data for cancer prediction. Data: TCGA (14 cancer types including lung). Method: Tested 6 different fusion strategies and compared their performance.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Cross-modal attention fusion worked best (5-12% improvement). Limitation: Only used tissue images and genomics — CT scans not included.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871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</a:t>
                      </a:r>
                      <a:endParaRPr lang="en-US" sz="1600" b="1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Shen et al. (2019). Using AI to predict survival in lung cancer patients with brain tumors. JAMA Network Open.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Goal: Predict survival in lung cancer patients with brain spread. Data: 1,185 patients. Method: Random forest and neural network on clinical variables; used SHAP to explain which factors mattered most.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High accuracy (AUC 0.81), better than traditional scoring methods. Limitation: Only uses clinical data — no CT scans; limited to patients with brain spread, not all lung cancer cases.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/>
        </p:nvSpPr>
        <p:spPr>
          <a:xfrm>
            <a:off x="119336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Dataset 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6" name="Google Shape;126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128" name="Google Shape;128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7" name="Google Shape;120;p2"/>
          <p:cNvSpPr txBox="1"/>
          <p:nvPr/>
        </p:nvSpPr>
        <p:spPr>
          <a:xfrm>
            <a:off x="720725" y="1156970"/>
            <a:ext cx="2623185" cy="1813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buClr>
                <a:schemeClr val="dk1"/>
              </a:buClr>
              <a:buSzPts val="1800"/>
            </a:pPr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  1] Clinical Dataset</a:t>
            </a:r>
            <a:endParaRPr lang="en-US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rtl="0">
              <a:buClr>
                <a:schemeClr val="dk1"/>
              </a:buClr>
              <a:buSzPts val="1800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Age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rtl="0">
              <a:buClr>
                <a:schemeClr val="dk1"/>
              </a:buClr>
              <a:buSzPts val="1800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Gender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rtl="0">
              <a:buClr>
                <a:schemeClr val="dk1"/>
              </a:buClr>
              <a:buSzPts val="1800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Smoking history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rtl="0">
              <a:buClr>
                <a:schemeClr val="dk1"/>
              </a:buClr>
              <a:buSzPts val="1800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Tumor stage 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rtl="0">
              <a:buClr>
                <a:schemeClr val="dk1"/>
              </a:buClr>
              <a:buSzPts val="1800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Treatment details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rtl="0">
              <a:buClr>
                <a:schemeClr val="dk1"/>
              </a:buClr>
              <a:buSzPts val="1800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Survival tim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20725" y="3650615"/>
            <a:ext cx="4422775" cy="1684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2] CT Image Dataset</a:t>
            </a:r>
            <a:endParaRPr lang="en-US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Chest CT scans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Tumor region (Region of Interest – ROI)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Shape features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Texture features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Volume features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247640" y="1156970"/>
            <a:ext cx="4759325" cy="290322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r>
              <a:rPr lang="en-US" altLang="zh-CN" sz="1600" b="1" dirty="0">
                <a:latin typeface="Calibri" panose="020F0502020204030204" pitchFamily="34" charset="0"/>
                <a:cs typeface="Calibri" panose="020F0502020204030204" pitchFamily="34" charset="0"/>
              </a:rPr>
              <a:t>3] Pathology Report Dataset</a:t>
            </a:r>
            <a:endParaRPr lang="en-US" altLang="zh-CN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 Histopathology diagnosis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 Tumor type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 Grade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 Molecular markers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/>
        </p:nvSpPr>
        <p:spPr>
          <a:xfrm>
            <a:off x="119336" y="67146"/>
            <a:ext cx="7569932" cy="40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Methodology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6" name="Google Shape;126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128" name="Google Shape;128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4" name="Google Shape;120;p2"/>
          <p:cNvSpPr txBox="1"/>
          <p:nvPr/>
        </p:nvSpPr>
        <p:spPr>
          <a:xfrm>
            <a:off x="1392555" y="150495"/>
            <a:ext cx="10880725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385" y="778510"/>
            <a:ext cx="8460105" cy="56400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 txBox="1"/>
          <p:nvPr/>
        </p:nvSpPr>
        <p:spPr>
          <a:xfrm>
            <a:off x="119380" y="67310"/>
            <a:ext cx="889571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US" sz="3200" b="1" dirty="0">
                <a:solidFill>
                  <a:schemeClr val="lt1"/>
                </a:solidFill>
              </a:rPr>
              <a:t>R</a:t>
            </a:r>
            <a:r>
              <a:rPr lang="en-IN" sz="3200" b="1" dirty="0" err="1">
                <a:solidFill>
                  <a:schemeClr val="lt1"/>
                </a:solidFill>
              </a:rPr>
              <a:t>esults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6" name="Google Shape;166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168" name="Google Shape;168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69" name="Google Shape;169;p5"/>
          <p:cNvSpPr txBox="1"/>
          <p:nvPr/>
        </p:nvSpPr>
        <p:spPr>
          <a:xfrm>
            <a:off x="772375" y="1132475"/>
            <a:ext cx="10458900" cy="4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>
              <a:buSzPts val="1900"/>
              <a:buFont typeface="Arial" panose="020B0604020202020204"/>
              <a:buChar char="•"/>
            </a:pPr>
            <a:endParaRPr sz="1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2" name="Google Shape;169;p5"/>
          <p:cNvSpPr txBox="1"/>
          <p:nvPr/>
        </p:nvSpPr>
        <p:spPr>
          <a:xfrm>
            <a:off x="899375" y="1259475"/>
            <a:ext cx="10458900" cy="4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>
              <a:buSzPts val="1900"/>
              <a:buFont typeface="Arial" panose="020B0604020202020204"/>
              <a:buChar char="•"/>
            </a:pPr>
            <a:endParaRPr sz="1800" dirty="0"/>
          </a:p>
        </p:txBody>
      </p:sp>
      <p:sp>
        <p:nvSpPr>
          <p:cNvPr id="4" name="Google Shape;169;p5"/>
          <p:cNvSpPr txBox="1"/>
          <p:nvPr/>
        </p:nvSpPr>
        <p:spPr>
          <a:xfrm>
            <a:off x="1026375" y="1386475"/>
            <a:ext cx="10458900" cy="4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>
              <a:buSzPts val="1900"/>
              <a:buFont typeface="Arial" panose="020B0604020202020204"/>
              <a:buChar char="•"/>
            </a:pPr>
            <a:endParaRPr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720"/>
            <a:ext cx="12192635" cy="6229350"/>
          </a:xfrm>
          <a:prstGeom prst="rect">
            <a:avLst/>
          </a:prstGeom>
          <a:solidFill>
            <a:schemeClr val="accent1"/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 txBox="1"/>
          <p:nvPr/>
        </p:nvSpPr>
        <p:spPr>
          <a:xfrm>
            <a:off x="119380" y="67310"/>
            <a:ext cx="889571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</a:pPr>
            <a:r>
              <a:rPr lang="en-IN" sz="3200" b="1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References</a:t>
            </a:r>
            <a:endParaRPr sz="3200" b="1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6" name="Google Shape;166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Dept. of CSE(AI&amp;ML)</a:t>
            </a:r>
            <a:endParaRPr lang="en-IN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/>
          </a:p>
        </p:txBody>
      </p:sp>
      <p:sp>
        <p:nvSpPr>
          <p:cNvPr id="168" name="Google Shape;168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sp>
        <p:nvSpPr>
          <p:cNvPr id="169" name="Google Shape;169;p5"/>
          <p:cNvSpPr txBox="1"/>
          <p:nvPr/>
        </p:nvSpPr>
        <p:spPr>
          <a:xfrm>
            <a:off x="772375" y="1132475"/>
            <a:ext cx="10458900" cy="4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 panose="02020603050405020304"/>
              <a:buAutoNum type="arabicPeriod"/>
            </a:pPr>
            <a:endParaRPr sz="19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  <p:sp>
        <p:nvSpPr>
          <p:cNvPr id="4" name="Google Shape;169;p5"/>
          <p:cNvSpPr txBox="1"/>
          <p:nvPr/>
        </p:nvSpPr>
        <p:spPr>
          <a:xfrm>
            <a:off x="327660" y="1018540"/>
            <a:ext cx="10903585" cy="4569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[1] Ardila, D. et al. (2019). End-to-end lung cancer detection on CT scans using deep learning. Nature Medicine, 25(6), pp.954-961.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[2] Katzman, J.L. et al. (2018). DeepSurv: Personalized treatment recommender system using a Cox proportional hazards deep neural network. BMC Medical Research Methodology, 18(1), p.24.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[3] Yao, J. et al. (2020). Whole slide images based cancer survival prediction using attention guided deep multiple instance learning. Medical Image Analysis, 65, p.101789.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[4] Chen, R.J. et al. (2021). Multimodal co-attention transformer for survival prediction in gigapixel whole slide images. ICCV 2021, pp.3995-4005.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[5] Huang, Z. et al. (2020). SALMON: Survival Analysis Learning with Multi-Omics Neural Networks on Lung Cancer. npj Precision Oncology, 4(1), p.11.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[6] Aerts, H.J.W.L. et al. (2014). Decoding tumour phenotype by noninvasive imaging using a quantitative radiomics approach. Nature Communications, 5, p.4006.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[7] Liu, Y. et al. (2020). Predict lung cancer survival based on multimodal data using graph neural networks. IEEE BIBM 2020, pp.557-560.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[8] Mobadersany, P. et al. (2018). Predicting cancer outcomes from histology and genomics using convolutional networks. PNAS, 115(13), pp.E2970-E2979.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[9] Steyaert, S. et al. (2023). Multimodal data fusion for cancer biomarker discovery with deep learning. Nature Machine Intelligence, 5, pp.351-362.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  <a:p>
            <a:pPr marL="457200" lvl="0" indent="-349250" algn="l">
              <a:buNone/>
            </a:pPr>
            <a:r>
              <a:rPr lang="en-US" sz="1600" dirty="0">
                <a:solidFill>
                  <a:schemeClr val="dk1"/>
                </a:solidFill>
                <a:latin typeface="Calibri" panose="020F0502020204030204"/>
                <a:sym typeface="+mn-ea"/>
              </a:rPr>
              <a:t>[10] Shen, W. et al. (2019). Mining prognosis index of brain metastases from lung cancer using artificial intelligence. JAMA Network Open, 2(12), p.e1917091.</a:t>
            </a:r>
            <a:endParaRPr lang="en-US" sz="1600" dirty="0">
              <a:solidFill>
                <a:schemeClr val="dk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</a:fld>
            <a:endParaRPr lang="en-IN"/>
          </a:p>
        </p:txBody>
      </p:sp>
      <p:pic>
        <p:nvPicPr>
          <p:cNvPr id="1028" name="Picture 4" descr="Thank You Vector Art, Icons, and Graphics for Free Downloa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760" y="960120"/>
            <a:ext cx="5156200" cy="515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1343" y="-39909"/>
            <a:ext cx="593629" cy="593629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91*405"/>
  <p:tag name="TABLE_ENDDRAG_RECT" val="30*62*891*405"/>
</p:tagLst>
</file>

<file path=ppt/tags/tag2.xml><?xml version="1.0" encoding="utf-8"?>
<p:tagLst xmlns:p="http://schemas.openxmlformats.org/presentationml/2006/main">
  <p:tag name="TABLE_ENDDRAG_ORIGIN_RECT" val="891*367"/>
  <p:tag name="TABLE_ENDDRAG_RECT" val="30*62*892*367"/>
</p:tagLst>
</file>

<file path=ppt/tags/tag3.xml><?xml version="1.0" encoding="utf-8"?>
<p:tagLst xmlns:p="http://schemas.openxmlformats.org/presentationml/2006/main">
  <p:tag name="TABLE_ENDDRAG_ORIGIN_RECT" val="826*407"/>
  <p:tag name="TABLE_ENDDRAG_RECT" val="30*62*826*407"/>
</p:tagLst>
</file>

<file path=ppt/tags/tag4.xml><?xml version="1.0" encoding="utf-8"?>
<p:tagLst xmlns:p="http://schemas.openxmlformats.org/presentationml/2006/main">
  <p:tag name="TABLE_ENDDRAG_ORIGIN_RECT" val="826*393"/>
  <p:tag name="TABLE_ENDDRAG_RECT" val="30*62*826*393"/>
</p:tagLst>
</file>

<file path=ppt/tags/tag5.xml><?xml version="1.0" encoding="utf-8"?>
<p:tagLst xmlns:p="http://schemas.openxmlformats.org/presentationml/2006/main">
  <p:tag name="TABLE_ENDDRAG_ORIGIN_RECT" val="826*427"/>
  <p:tag name="TABLE_ENDDRAG_RECT" val="30*62*826*427"/>
</p:tagLst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8822</Words>
  <Application>WPS Presentation</Application>
  <PresentationFormat>Widescreen</PresentationFormat>
  <Paragraphs>255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Arial</vt:lpstr>
      <vt:lpstr>Calibri</vt:lpstr>
      <vt:lpstr>Verdana</vt:lpstr>
      <vt:lpstr>Calibri</vt:lpstr>
      <vt:lpstr>Arial Black</vt:lpstr>
      <vt:lpstr>Times New Roman</vt:lpstr>
      <vt:lpstr>Microsoft YaHei</vt:lpstr>
      <vt:lpstr>Arial Unicode MS</vt:lpstr>
      <vt:lpstr>Custom Design</vt:lpstr>
      <vt:lpstr>Lung Cancer Survival Prediction  Using CT Scans, Clinical Data &amp; Pathology Reports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Lung Cancer Survival Prediction  Using CT Scans, Clinical Data &amp; Pathology Reports  </dc:title>
  <dc:creator>admin</dc:creator>
  <cp:lastModifiedBy>Sai Vamshi</cp:lastModifiedBy>
  <cp:revision>20</cp:revision>
  <dcterms:created xsi:type="dcterms:W3CDTF">2016-12-14T06:04:00Z</dcterms:created>
  <dcterms:modified xsi:type="dcterms:W3CDTF">2026-02-28T02:21:54Z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35A2DCD407D4430A958BCD1631D94FE2_13</vt:lpwstr>
  </property>
  <property fmtid="{D5CDD505-2E9C-101B-9397-08002B2CF9AE}" pid="3" name="KSOProductBuildVer">
    <vt:lpwstr>1033-12.2.0.23155</vt:lpwstr>
  </property>
</Properties>
</file>