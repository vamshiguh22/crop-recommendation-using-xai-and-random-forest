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62" r:id="rId13"/>
    <p:sldId id="260" r:id="rId14"/>
    <p:sldId id="271" r:id="rId15"/>
    <p:sldId id="264" r:id="rId16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Lung Cancer Survival Prediction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Using CT Scans, Clinical Data &amp; Pathology Reports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922655" y="3429000"/>
            <a:ext cx="59715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Minor Project - Review 1 |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1: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M.Anosh Reddy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ENG23AM0157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2: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P.Devamshu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ENG23AM0171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3: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M.Ram Charan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4: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N.Sai Vamshi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ENG23AM0165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1"/>
          <a:srcRect l="34667"/>
          <a:stretch>
            <a:fillRect/>
          </a:stretch>
        </p:blipFill>
        <p:spPr>
          <a:xfrm>
            <a:off x="1798320" y="823697"/>
            <a:ext cx="24892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/>
          <p:cNvSpPr txBox="1"/>
          <p:nvPr/>
        </p:nvSpPr>
        <p:spPr>
          <a:xfrm>
            <a:off x="7136765" y="5126355"/>
            <a:ext cx="4808855" cy="151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Guided By: 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MR. SRIRAMKUMAR R 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Assistant Professor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],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Dayananda Sagar University, Bengaluru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823697"/>
            <a:ext cx="1558834" cy="1558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develop a multimodal AI model that predicts lung cancer patient survival by combining CT scan images, clinical tabular data, and pathology reports.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 prediction accuracy and early risk stratification compared to single-    data-source models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 clinically interpretable risk scoring system that categorizes patients into low-, medium-, and high-survival risk groups for better treatment planning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altLang="en-US" sz="2000" dirty="0">
                <a:latin typeface="Arial Black" panose="020B0A0402010202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Arial Black" panose="020B0A04020102020204" pitchFamily="34" charset="0"/>
              <a:cs typeface="Calibri" panose="020F0502020204030204" pitchFamily="34" charset="0"/>
            </a:endParaRPr>
          </a:p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Lung cancer is one of the leading causes of cancer-related deaths worldwide, mainly due to late diagnosis and inaccurate survival estimation. Early and precise survival prediction is crucial for personalized treatment planning.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develop a predictive model that accurately estimates the survival probability of lung cancer           patients using medical data (CT scans, clinical features, and pathology reports).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31850" y="4437380"/>
            <a:ext cx="10676890" cy="150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Gaps in Current Solutions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1)Limited use of pathology text reports due to NLP complexity.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2) No personalization based on patient-specific risk factors.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3)Most models use single-modality data (only imaging or only clinical data)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0780" cy="515302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040"/>
                <a:gridCol w="3126740"/>
                <a:gridCol w="3773170"/>
                <a:gridCol w="3719830"/>
              </a:tblGrid>
              <a:tr h="7366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85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Ardila, D. et al. (2019). End-to-end lung cancer detection on CT scans using deep learning. Nature Medicine, 25(6), pp.954-961.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Detect lung cancer malignancy from CT. Dataset: NLST (45,856 scans) + UK Biobank. Method: 3D CNN end-to-end trained on low-dose CT volumes; handles prior CT comparison; outputs malignancy probability.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AUC 0.944 vs radiologist AUC 0.856. Reduced false positives by 11%, false negatives by 5% vs radiologists. Limitation: Detection only — does not predict survival time or integrate clinical/pathology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789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Katzman, J.L. et al. (2018). DeepSurv: Personalized treatment recommender system using a Cox proportional hazards deep neural network. BMC Medical Research Methodology, 18(1), p.24.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Predict patient survival using deep learning on tabular clinical data. Dataset: WHAS, SUPPORT, METABRIC, NLST clinical subset. Method: Deep Cox PH network — fully connected layers with log-hazard output; replaces linear Cox regression.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improved 3-7% over linear CPH on all datasets including NLST lung subset. Proved deep learning can model non-linear survival relationships. Limitation: Tabular only — no CT imaging or pathology text integrated.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8400" cy="518604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675"/>
                <a:gridCol w="3128645"/>
                <a:gridCol w="3775710"/>
                <a:gridCol w="3722370"/>
              </a:tblGrid>
              <a:tr h="73406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281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Yao, J. et al. (2020). Whole slide images based cancer survival prediction using attention guided deep multiple instance learning. Medical Image Analysis, 65, p.101789.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survival from whole slide pathology images using MIL. Dataset: TCGA-LUAD and TCGA-LUSC. Method: Attention-gated MIL aggregating patch-level ResNet-50 features from gigapixel WSI; Cox survival loss.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0.746 (LUAD), 0.762 (LUSC) — best WSI-only performance reported. Attention maps highlighted tumour microenvironment regions. Limitation: Pathology image only — CT scans and clinical tabular data not included.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917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Chen, R.J. et al. (2021). Multimodal co-attention transformer for survival prediction in gigapixel whole slide images. ICCV 2021, pp.3995-4005.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Fuse WSI pathology images with genomics for lung cancer survival. Dataset: TCGA (LUAD, LUSC, 5 cancer types). Method: MCAT — hierarchical image pyramid transformer + co-attention with genomic token; cross-modal attention between image patches and gene expression.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SOTA C-index on LUAD (0.771) and LUSC (0.758). Co-attention outperformed concatenation by 4-6%. Attention heads interpretable per genomic pathway. Limitation: WSI + genomics only; CT radiology scans and clinical structured data not included.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7779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73977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1932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Huang, Z. et al. (2020). SALMON: Survival Analysis Learning with Multi-Omics Neural Networks on Lung Cancer. npj Precision Oncology, 4(1), p.11.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survival via multi-omics fusion. Dataset: TCGA-LUAD (n=453), TCGA-LUSC (n=369). Method: Separate AE encoders for mRNA, miRNA, methylation, CNV; late concatenation + Cox PH head; modality contribution analysis.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0.692 (LUAD), 0.671 (LUSC) vs 0.621 unimodal baseline. Showed mRNA is dominant modality for lung. Limitation: Omics only — no CT imaging, clinical records, or pathology text; requires genomic profiling not available in all hospitals.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869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Aerts, H.J.W.L. et al. (2014). Decoding tumour phenotype by noninvasive imaging using a quantitative radiomics approach. Nature Communications, 5, p.4006.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Extract radiomic features from CT to predict lung cancer outcome. Dataset: TCIA NSCLC-Radiomics (422 patients). Method: 440 radiomic features from CT tumour region (shape, texture, intensity); Cox regression with LASSO feature selection.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0.65 on validation cohort. Showed CT texture features like entropy and energy are prognostic. Widely cited as baseline for CT-based lung prognosis. Limitation: Hand-crafted features only — no deep learning, no other modalities.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9303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3743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Liu, Y. et al. (2020). Predict lung cancer survival based on multimodal data using graph neural networks. IEEE International Conference on Bioinformatics and Biomedicine, pp.557-560.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prognosis via multimodal GNN. Dataset: TCGA-LUAD (n=412). Method: Graph neural network fusing CT patch features + gene expression + clinical stage; patient similarity graph connecting cases with shared features.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0.718, outperformed single-modality models by 7-9%. Patient graph captured population-level survival patterns. Limitation: Requires genomics — not available in routine clinical workflow; no pathology text or XAI component.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16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Mobadersany, P. et al. (2018). Predicting cancer outcomes from histology and genomics using convolutional networks. PNAS, 115(13), pp.E2970-E2979.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Histology image + genomic survival prediction. Dataset: TCGA-LUAD, TCGA-LGG. Method: CNN feature extraction from H&amp;E patches fused with binary genomic risk score; Cox PH survival output head with hazard maps.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improved 11% over clinical-only baseline. Hazard maps highlighted tumour core regions. Limitation: Binary genomic features only — clinical tabular variables and CT scans not incorporated; not lung-specific in methodology.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43115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67437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7807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Steyaert, S. et al. (2023). Multimodal data fusion for cancer biomarker discovery with deep learning. Nature Machine Intelligence, 5, pp.351-362.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Benchmark multimodal fusion strategies for lung and other cancers. Dataset: TCGA (LUAD, LUSC among 14 cancer types). Method: Systematic comparison of 6 fusion strategies — early, late, intermediate, tensor, attention, cross-modal — across imaging and omics.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Intermediate cross-modal attention fusion consistently best — improved C-index 5-12% over unimodal on LUAD/LUSC. Provides benchmark framework. Limitation: CT radiology not included; only WSI imaging and omics benchmarked.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871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Shen, W. et al. (2019). Mining prognosis index of brain metastases from lung cancer using artificial intelligence. JAMA Network Open, 2(12), p.e1917091.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Predict brain metastasis survival in lung cancer patients. Dataset: 1185 lung cancer patients with brain metastases. Method: Random forest + deep neural network on clinical variables; feature importance via SHAP; compared with established clinical prognosis indices.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AUC 0.81, outperformed traditional prognostic indices. SHAP identified primary tumour histology and number of lesions as top predictors. Limitation: Clinical data only — no CT imaging integration; restricted to brain metastasis subtype, not primary tumour survival.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Dataset 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7" name="Google Shape;120;p2"/>
          <p:cNvSpPr txBox="1"/>
          <p:nvPr/>
        </p:nvSpPr>
        <p:spPr>
          <a:xfrm>
            <a:off x="720725" y="1156970"/>
            <a:ext cx="2623185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  1] Clinical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Age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Gender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Smoking history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Tumor stage 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Treatment details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Survival tim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0725" y="3650615"/>
            <a:ext cx="4422775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2] CT Image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Chest CT scans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Tumor region (Region of Interest – ROI)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Shape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Texture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Volume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47640" y="1156970"/>
            <a:ext cx="4759325" cy="290322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3] Pathology Report Dataset</a:t>
            </a:r>
            <a:endParaRPr lang="en-US" altLang="zh-C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Histopathology diagnosis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Tumor type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Grade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Molecular markers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Methodology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20;p2"/>
          <p:cNvSpPr txBox="1"/>
          <p:nvPr/>
        </p:nvSpPr>
        <p:spPr>
          <a:xfrm>
            <a:off x="1392555" y="150495"/>
            <a:ext cx="108807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85" y="778510"/>
            <a:ext cx="8460105" cy="5640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US" sz="3200" b="1" dirty="0">
                <a:solidFill>
                  <a:schemeClr val="lt1"/>
                </a:solidFill>
              </a:rPr>
              <a:t>R</a:t>
            </a:r>
            <a:r>
              <a:rPr lang="en-IN" sz="3200" b="1" dirty="0" err="1">
                <a:solidFill>
                  <a:schemeClr val="lt1"/>
                </a:solidFill>
              </a:rPr>
              <a:t>esults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Google Shape;169;p5"/>
          <p:cNvSpPr txBox="1"/>
          <p:nvPr/>
        </p:nvSpPr>
        <p:spPr>
          <a:xfrm>
            <a:off x="899375" y="1259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sp>
        <p:nvSpPr>
          <p:cNvPr id="4" name="Google Shape;169;p5"/>
          <p:cNvSpPr txBox="1"/>
          <p:nvPr/>
        </p:nvSpPr>
        <p:spPr>
          <a:xfrm>
            <a:off x="1026375" y="1386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720"/>
            <a:ext cx="12192635" cy="622935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 panose="02020603050405020304"/>
              <a:buAutoNum type="arabicPeriod"/>
            </a:pPr>
            <a:endParaRPr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327660" y="1018540"/>
            <a:ext cx="10903585" cy="456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[1] Ardila, D. et al. (2019). End-to-end lung cancer detection on CT scans using deep learning. Nature Medicine, 25(6), pp.954-961.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[2] Katzman, J.L. et al. (2018). DeepSurv: Personalized treatment recommender system using a Cox proportional hazards deep neural network. BMC Medical Research Methodology, 18(1), p.24.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[3] Yao, J. et al. (2020). Whole slide images based cancer survival prediction using attention guided deep multiple instance learning. Medical Image Analysis, 65, p.101789.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[4] Chen, R.J. et al. (2021). Multimodal co-attention transformer for survival prediction in gigapixel whole slide images. ICCV 2021, pp.3995-4005.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[5] Huang, Z. et al. (2020). SALMON: Survival Analysis Learning with Multi-Omics Neural Networks on Lung Cancer. npj Precision Oncology, 4(1), p.11.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[6] Aerts, H.J.W.L. et al. (2014). Decoding tumour phenotype by noninvasive imaging using a quantitative radiomics approach. Nature Communications, 5, p.4006.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[7] Liu, Y. et al. (2020). Predict lung cancer survival based on multimodal data using graph neural networks. IEEE BIBM 2020, pp.557-560.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[8] Mobadersany, P. et al. (2018). Predicting cancer outcomes from histology and genomics using convolutional networks. PNAS, 115(13), pp.E2970-E2979.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[9] Steyaert, S. et al. (2023). Multimodal data fusion for cancer biomarker discovery with deep learning. Nature Machine Intelligence, 5, pp.351-362.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[10] Shen, W. et al. (2019). Mining prognosis index of brain metastases from lung cancer using artificial intelligence. JAMA Network Open, 2(12), p.e1917091.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pic>
        <p:nvPicPr>
          <p:cNvPr id="1028" name="Picture 4" descr="Thank You Vector Art, Icons, and Graphic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1*405"/>
  <p:tag name="TABLE_ENDDRAG_RECT" val="30*62*891*405"/>
</p:tagLst>
</file>

<file path=ppt/tags/tag2.xml><?xml version="1.0" encoding="utf-8"?>
<p:tagLst xmlns:p="http://schemas.openxmlformats.org/presentationml/2006/main">
  <p:tag name="TABLE_ENDDRAG_ORIGIN_RECT" val="891*367"/>
  <p:tag name="TABLE_ENDDRAG_RECT" val="30*62*892*367"/>
</p:tagLst>
</file>

<file path=ppt/tags/tag3.xml><?xml version="1.0" encoding="utf-8"?>
<p:tagLst xmlns:p="http://schemas.openxmlformats.org/presentationml/2006/main">
  <p:tag name="TABLE_ENDDRAG_ORIGIN_RECT" val="826*407"/>
  <p:tag name="TABLE_ENDDRAG_RECT" val="30*62*826*407"/>
</p:tagLst>
</file>

<file path=ppt/tags/tag4.xml><?xml version="1.0" encoding="utf-8"?>
<p:tagLst xmlns:p="http://schemas.openxmlformats.org/presentationml/2006/main">
  <p:tag name="TABLE_ENDDRAG_ORIGIN_RECT" val="826*393"/>
  <p:tag name="TABLE_ENDDRAG_RECT" val="30*62*826*393"/>
</p:tagLst>
</file>

<file path=ppt/tags/tag5.xml><?xml version="1.0" encoding="utf-8"?>
<p:tagLst xmlns:p="http://schemas.openxmlformats.org/presentationml/2006/main">
  <p:tag name="TABLE_ENDDRAG_ORIGIN_RECT" val="826*427"/>
  <p:tag name="TABLE_ENDDRAG_RECT" val="30*62*826*427"/>
</p:tagLst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10612</Words>
  <Application>WPS Presentation</Application>
  <PresentationFormat>Widescreen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Verdana</vt:lpstr>
      <vt:lpstr>Calibri</vt:lpstr>
      <vt:lpstr>Arial Black</vt:lpstr>
      <vt:lpstr>Times New Roman</vt:lpstr>
      <vt:lpstr>Microsoft YaHei</vt:lpstr>
      <vt:lpstr>Arial Unicode MS</vt:lpstr>
      <vt:lpstr>Custom Design</vt:lpstr>
      <vt:lpstr>Lung Cancer Survival Prediction  Using CT Scans, Clinical Data &amp; Pathology Reports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Survival Prediction  Using CT Scans, Clinical Data &amp; Pathology Reports  </dc:title>
  <dc:creator>admin</dc:creator>
  <cp:lastModifiedBy>Sai Vamshi</cp:lastModifiedBy>
  <cp:revision>17</cp:revision>
  <dcterms:created xsi:type="dcterms:W3CDTF">2016-12-14T06:04:00Z</dcterms:created>
  <dcterms:modified xsi:type="dcterms:W3CDTF">2026-02-28T01:53:06Z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E5F306DCDEA34587AAE647A2161D4A6F_13</vt:lpwstr>
  </property>
  <property fmtid="{D5CDD505-2E9C-101B-9397-08002B2CF9AE}" pid="3" name="KSOProductBuildVer">
    <vt:lpwstr>1033-12.2.0.23155</vt:lpwstr>
  </property>
</Properties>
</file>