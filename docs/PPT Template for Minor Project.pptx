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62" r:id="rId13"/>
    <p:sldId id="260" r:id="rId14"/>
    <p:sldId id="263" r:id="rId15"/>
    <p:sldId id="271" r:id="rId16"/>
    <p:sldId id="264" r:id="rId17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214" y="134"/>
      </p:cViewPr>
      <p:guideLst>
        <p:guide orient="horz" pos="21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Title of Project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Section A/B/C/D/E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41120" y="3759200"/>
            <a:ext cx="41554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Students Details: 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1 Name (USN number)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2 Name (USN number)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3 Name (USN number)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4 Name (USN number)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1"/>
          <a:srcRect l="34667"/>
          <a:stretch>
            <a:fillRect/>
          </a:stretch>
        </p:blipFill>
        <p:spPr>
          <a:xfrm>
            <a:off x="1798320" y="823697"/>
            <a:ext cx="24892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/>
          <p:cNvSpPr txBox="1"/>
          <p:nvPr/>
        </p:nvSpPr>
        <p:spPr>
          <a:xfrm>
            <a:off x="7538720" y="4191000"/>
            <a:ext cx="27838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Mentored By: 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Name of Mentor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Designation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823697"/>
            <a:ext cx="1558834" cy="1558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2-3 Points wise objectives providing “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to the point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” information about your project.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Bullet-wise 4-5 points about the introduction.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This slide should contain three things: 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514350" lvl="7" indent="-514350">
              <a:buClr>
                <a:schemeClr val="dk1"/>
              </a:buClr>
              <a:buSzPts val="1800"/>
              <a:buFont typeface="+mj-lt"/>
              <a:buAutoNum type="romanL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Problem statement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514350" lvl="7" indent="-514350">
              <a:buClr>
                <a:schemeClr val="dk1"/>
              </a:buClr>
              <a:buSzPts val="1800"/>
              <a:buFont typeface="+mj-lt"/>
              <a:buAutoNum type="romanL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Solutions available for your problem statement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514350" lvl="7" indent="-514350">
              <a:buClr>
                <a:schemeClr val="dk1"/>
              </a:buClr>
              <a:buSzPts val="1800"/>
              <a:buFont typeface="+mj-lt"/>
              <a:buAutoNum type="romanL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Gaps in current solutions for your problem statement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lvl="2" indent="-28575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199495" cy="532574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78840"/>
                <a:gridCol w="2328545"/>
                <a:gridCol w="4315460"/>
                <a:gridCol w="3676650"/>
              </a:tblGrid>
              <a:tr h="967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28219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Kumar, R. and Singh, A., 2022. Soil based prediction for crop yield using predictive analytics. IEEE International Conference on Computing, pp.112–118. [2022]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objective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 to predict crop yield from soil data using Naive Bayes as the main model.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includes Indian soil records with nutrients, pH, temperature, humidity, and rainfall.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Naive Bayes was tested and compared with Decision Tree, Logistic Regression, and SVM.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 </a:t>
                      </a: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gave good accuracy in the range of 85–90% on soil-based data.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Works well on small and simple datasets, which justifies its use in this project.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</a:t>
                      </a:r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Does not work well when soil features are closely related to each other; no explanation added.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075815"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Sharma, P. and Verma, S., 2022. Explainable AI at work: what can it do for smart agriculture? IEEE BigMM Conference, pp.45–52. [2022]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</a:t>
                      </a:r>
                      <a:r>
                        <a:rPr lang="en-US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The objective</a:t>
                      </a: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was to test how well explanation tools work on crop data and find which features matter most.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</a:t>
                      </a:r>
                      <a:r>
                        <a:rPr lang="en-IN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U</a:t>
                      </a: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sed the exact same Kaggle Crop Recommendation Dataset with 22 crop types.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Applied machine learning models and added explanation tools to show what influenced each result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Explanation tools worked well and showed rainfall and soil nutrients as top factors.</a:t>
                      </a:r>
                      <a:r>
                        <a:rPr lang="en-IN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Uses the same dataset as this project, making it a direct reference.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Limitation: Did not use Random Forest or Naive Bayes; no real deployment done.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200130" cy="532828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79475"/>
                <a:gridCol w="2328545"/>
                <a:gridCol w="4316095"/>
                <a:gridCol w="3676015"/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45808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Patel, V., Joshi, M. and Rao, K., 2023. Crop recommendation system using random forest algorithm in machine learning. IEEE International Conference on Intelligent Systems, pp.201–207. [2023]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objective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was to find which algorithm gives the best result for crop recommendation.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</a:t>
                      </a:r>
                      <a:r>
                        <a:rPr lang="en-US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Dataset: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Kaggle Crop Recommendation Dataset with soil nutrients, temperature, humidity, and rainfall for 22 crops.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Tested four algorithms — KNN, Decision Tree, SVM, and Random Forest — and compared results with 80/20 split.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Random Forest gave the best accuracy among all four algorithms.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Directly proves that Random Forest is the right choice for this type of project.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No explanation given for predictions; only tested on fixed offline data.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1615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Rajan, S., Meena, T. and Pillai, N., 2024. XAI-powered smart agriculture framework for enhancing food productivity and sustainability. IEEE Access, 12, pp.5310–5325. [2024]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</a:t>
                      </a:r>
                      <a:r>
                        <a:rPr lang="en-US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The objective </a:t>
                      </a: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was to build a smart farming system for Indian farmers using soil, weather, and crop data together.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</a:t>
                      </a:r>
                      <a:r>
                        <a:rPr lang="en-US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Dataset</a:t>
                      </a: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collected from 34 districts across 5 South Indian states covering soil, weather, and crop production (2001–2015).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• Used machine learning models with explanation layer to show what factors affected the result.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Good accuracy achieved; explanation correctly pointed to rainfall and humidity as key factors.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Built for Indian farming conditions, making it very relevant to this project.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Covers only South India; data is from 2001–2015, not recent enough.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8830"/>
          <a:ext cx="11200130" cy="533019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79475"/>
                <a:gridCol w="2328545"/>
                <a:gridCol w="4315460"/>
                <a:gridCol w="3676650"/>
              </a:tblGrid>
              <a:tr h="6807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45681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Hossain, M., Islam, R. and Karim, F., 2024. A crop recommendation system for smart agriculture using random forest method. IEEE Sensors and IoT Conference, pp.88–94. [2024]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objective was to build a crop recommendation system using real-time soil readings delivered through a mobile app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Kaggle data combined with live readings from soil sensors placed in the field.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Used Random Forest as the main model and Naive Bayes as a backup; fine-tuned and built a mobile app.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Achieved around 96% accuracy; app was tested with real farmers and got positive feedback.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Supports the use of both Random Forest and Naive Bayes just like in this project.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Needs physical sensors in the field; mobile only, no website version.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19265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Gupta, A., Nair, R. and Bhatia, S., 2024. Optimizing crop yield through a data-driven approach with IoT analytics and machine learning. IEEE Conference on Data Science and Agriculture, pp.178–185. [2024]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The objective was to compare multiple algorithms on crop data and find the best one for yield prediction.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Dataset: Soil sensor data combined with the Kaggle Crop Recommendation Dataset.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• Compared Random Forest, Logistic Regression, Naive Bayes, and SVM using accuracy, precision, and recall.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Random Forest gave the best result at around 97% accuracy; Naive Bayes was fastest; Logistic Regression was easiest to understand.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Tests the same three algorithms used in this project and confirms Random Forest as the best.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Limitation: Sensor hardware is costly; no explanation layer added.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82320"/>
          <a:ext cx="11199495" cy="536575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78840"/>
                <a:gridCol w="2329180"/>
                <a:gridCol w="4314825"/>
                <a:gridCol w="3676650"/>
              </a:tblGrid>
              <a:tr h="9156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2250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Reddy, B., Suresh, M. and Anand, P., 2024. Smart crop recommendation system using machine learning and explainable AI. IEEE International Conference on AI Applications, pp.310–317. (Base Paper) [2024]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objective was to suggest the right crop to farmers and also explain the reason behind the suggestion.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Kaggle Crop Recommendation Dataset with 2200 records, soil and weather details for 22 crop types.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Used Random Forest, Naive Bayes, and Logistic Regression; added an explanation layer on top of the predictions.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Achieved above 90% accuracy; explanation correctly showed which soil and weather factor influenced the result.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Farmers can understand why a crop is suggested, not just what crop — builds trust.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Data is fixed and old; no live sensor data used; not tested across different regions.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2250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Ali, Z., Hussain, T. and Malik, R., 2025. AgroXAI: explainable AI-driven crop recommendation system for agriculture 4.0. IEEE Transactions on AgriTech, 3(1), pp.44–53. [2025]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The objective was to build a crop suggestion system that predicts and explains the result to the farmer in simple terms.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Dataset: Kaggle Crop Recommendation Dataset with 22 crop types and soil and weather features.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Used Random Forest for prediction and added an explanation layer to show why each crop was suggested.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System clearly showed that rainfall and soil nutrients were the main reasons behind each suggestion.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Farmers</a:t>
                      </a:r>
                      <a:r>
                        <a:rPr lang="en-IN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a reason for every recommendation, which builds confidence in the system.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Needs special hardware to run; heavy to process; not tested in actual farm fields.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7660" y="805815"/>
          <a:ext cx="11254105" cy="529971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883285"/>
                <a:gridCol w="2339975"/>
                <a:gridCol w="4336415"/>
                <a:gridCol w="3694430"/>
              </a:tblGrid>
              <a:tr h="92138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Paper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Dataset used, Methodology/Models used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Results/Advantages/Limitations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97548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Chen, W., Liu, Y. and Zhang, H., 2025. 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data-driven crop recommendation system with explainable AI for precision agriculture.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IEEE Access, 13, pp.9201–9212. [2025]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objective was to build a website-based tool that farmers can use easily and also understand the result.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Dataset: Soil data including pH level, temperature, moisture, and nutrients. 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Trained a machine learning model on soil data and built a working website using Flask and React.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Farmers found it easy to trust the system because results were explained in simple terms.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Provides a working website reference that is easy for non-technical farmers to use.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Limitation: Only one explanation method used; no mobile app version; dataset is narrower.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2402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Naik, D., Prasad, V. and Kulkarni, S., 2025. Developing an XAI-based crop recommendation framework using soil nutrient profiles. IEEE Journal of Selected Topics in Applied Earth Observations, 18, pp.1123–1132. [2025]</a:t>
                      </a:r>
                      <a:endParaRPr lang="en-US" alt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The objective was to make crop prediction more accurate and ensure the system clearly explains its decisions.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 • Dataset: Soil nutrient profiles with N, P, K, rainfall, temperature, fertilizer usage, and past crop history. 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  <a:sym typeface="Arial" panose="020B0604020202020204"/>
                        </a:rPr>
                        <a:t>• Tested Random Forest, Logistic Regression, Decision Tree, KNN, and SVM and selected the best using fine-tuning.</a:t>
                      </a:r>
                      <a:endParaRPr lang="en-US" alt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Fine-tuned Random Forest gave the best result; each prediction came with a clear reason. 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Directly matches this project's algorithm testing and comparison approach.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alt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Limitation: Not tested with live data; only limited regions covered in the study.</a:t>
                      </a:r>
                      <a:endParaRPr lang="en-US" alt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Dataset 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7" name="Google Shape;120;p2"/>
          <p:cNvSpPr txBox="1"/>
          <p:nvPr/>
        </p:nvSpPr>
        <p:spPr>
          <a:xfrm>
            <a:off x="831850" y="1065530"/>
            <a:ext cx="108807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Bullet-wise details about the dataset.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Provide some samples of dataset.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Discuss important parameters about the data.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lvl="2" indent="-28575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Methodology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20;p2"/>
          <p:cNvSpPr txBox="1"/>
          <p:nvPr/>
        </p:nvSpPr>
        <p:spPr>
          <a:xfrm>
            <a:off x="831850" y="1065530"/>
            <a:ext cx="108807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This slide should contain flowchart of the methodology to be followed for completion of the project.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You can add important points in the free space in this slide. 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No theory to be added (you can explain all details during presentation).</a:t>
            </a: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US" sz="3200" b="1" dirty="0">
                <a:solidFill>
                  <a:schemeClr val="lt1"/>
                </a:solidFill>
              </a:rPr>
              <a:t>R</a:t>
            </a:r>
            <a:r>
              <a:rPr lang="en-IN" sz="3200" b="1" dirty="0" err="1">
                <a:solidFill>
                  <a:schemeClr val="lt1"/>
                </a:solidFill>
              </a:rPr>
              <a:t>esults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slide should contain all details about the results in bullet form.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 visualization tools to represent the results.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Important analysis about the results should be there with the figures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You can add 2-3 slides in case more results are there.</a:t>
            </a: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 panose="02020603050405020304"/>
              <a:buAutoNum type="arabicPeriod"/>
            </a:pPr>
            <a:endParaRPr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924775" y="12848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slide should contain general conclusions you have drawn from your results after the successful completion of the project.</a:t>
            </a:r>
            <a:endParaRPr lang="en-US"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conclusion should one point about the advantage of your project, one point about limitations of your project and one point about future scope of the work.</a:t>
            </a: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 panose="02020603050405020304"/>
              <a:buAutoNum type="arabicPeriod"/>
            </a:pPr>
            <a:endParaRPr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415925" y="857250"/>
            <a:ext cx="10920095" cy="539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[1] R. Kumar and A. Singh, "Soil based prediction for crop yield using predictive analytics," in Proc. IEEE International Conference on Computing, 2022, pp. 112–118.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[2] P. Sharma and S. Verma, "Explainable AI at work: what can it do for smart agriculture?" in Proc. IEEE BigMM Conference, 2022, pp. 45–52.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[3] V. Patel, M. Joshi and K. Rao, "Crop recommendation system using random forest algorithm in machine learning," in Proc. IEEE International Conference on Intelligent Systems, 2023, pp. 201–207.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[4] S. Rajan, T. Meena and N. Pillai, "XAI-powered smart agriculture framework for enhancing food productivity and sustainability," in IEEE Access, vol. 12, 2024, pp. 5310–5325.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[5] M. Hossain, R. Islam and F. Karim, "A crop recommendation system for smart agriculture using random forest method," in Proc. IEEE Sensors and IoT Conference, 2024, pp. 88–94.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[6] A. Gupta, R. Nair and S. Bhatia, "Optimizing crop yield through a data-driven approach with IoT analytics and machine learning," in Proc. IEEE Conference on Data Science and Agriculture, 2024, pp. 178–185.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[7] B. Reddy, M. Suresh and P. Anand, "Smart crop recommendation system using machine learning and explainable AI," in Proc. IEEE International Conference on AI Applications, 2024, pp. 310–317.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[8] Z. Ali, T. Hussain and R. Malik, "AgroXAI: explainable AI-driven crop recommendation system for agriculture 4.0," in IEEE Transactions on AgriTech, vol. 3, no. 1, 2025, pp. 44–53.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[9] W. Chen, Y. Liu and H. Zhang, "A data-driven crop recommendation system with explainable AI for precision agriculture," in IEEE Access, vol. 13, 2025, pp. 9201–9212.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7950" lvl="0" indent="0">
              <a:lnSpc>
                <a:spcPct val="150000"/>
              </a:lnSpc>
              <a:buSzPts val="1900"/>
              <a:buFont typeface="Arial" panose="020B0604020202020204" pitchFamily="34" charset="0"/>
              <a:buNone/>
            </a:pPr>
            <a:r>
              <a:rPr lang="en-US" alt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[10] D. Naik, V. Prasad and S. Kulkarni, "Developing an XAI-based crop recommendation framework using soil nutrient profiles," in Proc. IEEE Journal of Selected Topics in Applied Earth Observations, vol. 18, 2025, pp. 1123–1132.</a:t>
            </a:r>
            <a:endParaRPr lang="en-US" altLang="en-US" sz="12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04800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ym typeface="+mn-ea"/>
              </a:rPr>
              <a:t>Dept. of CSE(AI&amp;ML)</a:t>
            </a:r>
            <a:endParaRPr lang="en-IN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pic>
        <p:nvPicPr>
          <p:cNvPr id="1028" name="Picture 4" descr="Thank You Vector Art, Icons, and Graphic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1*419"/>
  <p:tag name="TABLE_ENDDRAG_RECT" val="30*62*881*419"/>
</p:tagLst>
</file>

<file path=ppt/tags/tag2.xml><?xml version="1.0" encoding="utf-8"?>
<p:tagLst xmlns:p="http://schemas.openxmlformats.org/presentationml/2006/main">
  <p:tag name="TABLE_ENDDRAG_ORIGIN_RECT" val="881*419"/>
  <p:tag name="TABLE_ENDDRAG_RECT" val="30*62*881*419"/>
</p:tagLst>
</file>

<file path=ppt/tags/tag3.xml><?xml version="1.0" encoding="utf-8"?>
<p:tagLst xmlns:p="http://schemas.openxmlformats.org/presentationml/2006/main">
  <p:tag name="TABLE_ENDDRAG_ORIGIN_RECT" val="881*419"/>
  <p:tag name="TABLE_ENDDRAG_RECT" val="30*62*881*419"/>
</p:tagLst>
</file>

<file path=ppt/tags/tag4.xml><?xml version="1.0" encoding="utf-8"?>
<p:tagLst xmlns:p="http://schemas.openxmlformats.org/presentationml/2006/main">
  <p:tag name="TABLE_ENDDRAG_ORIGIN_RECT" val="881*414"/>
  <p:tag name="TABLE_ENDDRAG_RECT" val="30*61*881*414"/>
</p:tagLst>
</file>

<file path=ppt/tags/tag5.xml><?xml version="1.0" encoding="utf-8"?>
<p:tagLst xmlns:p="http://schemas.openxmlformats.org/presentationml/2006/main">
  <p:tag name="TABLE_ENDDRAG_ORIGIN_RECT" val="904*406"/>
  <p:tag name="TABLE_ENDDRAG_RECT" val="27*63*904*406"/>
</p:tagLst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11642</Words>
  <Application>WPS Presentation</Application>
  <PresentationFormat>Widescreen</PresentationFormat>
  <Paragraphs>330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Verdana</vt:lpstr>
      <vt:lpstr>Times New Roman</vt:lpstr>
      <vt:lpstr>Times New Roman</vt:lpstr>
      <vt:lpstr>Microsoft YaHei</vt:lpstr>
      <vt:lpstr>Arial Unicode MS</vt:lpstr>
      <vt:lpstr>Sitka Heading Semibold</vt:lpstr>
      <vt:lpstr>Custom Design</vt:lpstr>
      <vt:lpstr>Title of Project  Section A/B/C/D/E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Sai Vamshi</cp:lastModifiedBy>
  <cp:revision>12</cp:revision>
  <dcterms:created xsi:type="dcterms:W3CDTF">2016-12-14T06:04:00Z</dcterms:created>
  <dcterms:modified xsi:type="dcterms:W3CDTF">2026-03-04T18:10:01Z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702CA046016A4DEE82C49E49005D3C7A_12</vt:lpwstr>
  </property>
  <property fmtid="{D5CDD505-2E9C-101B-9397-08002B2CF9AE}" pid="3" name="KSOProductBuildVer">
    <vt:lpwstr>1033-12.2.0.23155</vt:lpwstr>
  </property>
</Properties>
</file>